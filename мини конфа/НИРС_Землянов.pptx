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Proxima Nova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C0B0F36-4DD8-4C67-8B2B-0482240E90F0}">
  <a:tblStyle styleId="{8C0B0F36-4DD8-4C67-8B2B-0482240E90F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ProximaNova-regular.fntdata"/><Relationship Id="rId14" Type="http://schemas.openxmlformats.org/officeDocument/2006/relationships/slide" Target="slides/slide8.xml"/><Relationship Id="rId17" Type="http://schemas.openxmlformats.org/officeDocument/2006/relationships/font" Target="fonts/ProximaNova-italic.fntdata"/><Relationship Id="rId16" Type="http://schemas.openxmlformats.org/officeDocument/2006/relationships/font" Target="fonts/ProximaNova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ProximaNova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bfa24b2e2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bfa24b2e2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bfa24b2e2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bfa24b2e2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bfa24b2e2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bfa24b2e2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bfa24b2e2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bfa24b2e2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bfa24b2e2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bfa24b2e2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bfa24b2e2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bfa24b2e2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bfa24b2e2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bfa24b2e2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perviz19/VulnXSS" TargetMode="External"/><Relationship Id="rId4" Type="http://schemas.openxmlformats.org/officeDocument/2006/relationships/hyperlink" Target="https://www.kaggle.com/datasets/syedsaqlainhussain/cross-site-scripting-xss-dataset-for-deep-learning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AvtoBBus/Bus_Station_35" TargetMode="External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researchgate.net/publication/382486679_Machine_Learning-Driven_Detection_of_Cross-Site_Scripting_Attacks" TargetMode="External"/><Relationship Id="rId4" Type="http://schemas.openxmlformats.org/officeDocument/2006/relationships/hyperlink" Target="https://dl.acm.org/doi/epdf/10.1145/3708821.3733889" TargetMode="External"/><Relationship Id="rId5" Type="http://schemas.openxmlformats.org/officeDocument/2006/relationships/hyperlink" Target="https://www.sciencedirect.com/science/article/pii/S2590123024016165" TargetMode="External"/><Relationship Id="rId6" Type="http://schemas.openxmlformats.org/officeDocument/2006/relationships/hyperlink" Target="https://owasp.org/Top10/2025/" TargetMode="External"/><Relationship Id="rId7" Type="http://schemas.openxmlformats.org/officeDocument/2006/relationships/hyperlink" Target="https://portswigger.net/web-security/cross-site-script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выполнения НИРС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Обнаружение XSS-атак с использованием методов машинного обучения</a:t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510442" y="4148859"/>
            <a:ext cx="18654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Студент группы 6511-100503D</a:t>
            </a:r>
            <a:endParaRPr sz="10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Землянов В. А.</a:t>
            </a:r>
            <a:endParaRPr sz="10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rgbClr val="1F2937"/>
                </a:solidFill>
              </a:rPr>
              <a:t>Содержание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 sz="1800"/>
              <a:t>Введение</a:t>
            </a:r>
            <a:r>
              <a:rPr lang="ru" sz="1800"/>
              <a:t> и актуальность исследования;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 sz="1800"/>
              <a:t>Анализ современных средств защиты;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 sz="1800"/>
              <a:t>Обоснование связи с ИБ;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rgbClr val="1F2937"/>
                </a:solidFill>
              </a:rPr>
              <a:t>Введение и актуальность исследования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ru"/>
              <a:t>Рост числа атак.</a:t>
            </a:r>
            <a:br>
              <a:rPr b="1" lang="ru" sz="1700"/>
            </a:br>
            <a:r>
              <a:rPr lang="ru" sz="1483"/>
              <a:t>Веб-приложения остаются основной целью злоумышленников. XSS (Cross-Site Scripting) стабильно входит в топ-3 самых распространенных уязвимостей веб-приложений (OWASP Top 10).</a:t>
            </a:r>
            <a:br>
              <a:rPr lang="ru" sz="1483"/>
            </a:br>
            <a:endParaRPr sz="1483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ru" sz="1700"/>
              <a:t>Неэффективность сигнатурных методов.</a:t>
            </a:r>
            <a:br>
              <a:rPr b="1" lang="ru" sz="1700"/>
            </a:br>
            <a:r>
              <a:rPr lang="ru" sz="1350"/>
              <a:t>Классические средства защиты работают по принципу "поиска по списку". Они эффективны против известных атак, но бессильны против:</a:t>
            </a:r>
            <a:endParaRPr sz="1350"/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SzPts val="1150"/>
              <a:buChar char="○"/>
            </a:pPr>
            <a:r>
              <a:rPr lang="ru" sz="1150"/>
              <a:t>Модифицированных полезных нагрузок (обфускация);</a:t>
            </a:r>
            <a:endParaRPr sz="1150"/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SzPts val="1350"/>
              <a:buChar char="○"/>
            </a:pPr>
            <a:r>
              <a:rPr lang="ru" sz="1150"/>
              <a:t>Zero-day атак (новых, ранее не встречавшихся векторов).</a:t>
            </a:r>
            <a:br>
              <a:rPr lang="ru" sz="1350"/>
            </a:br>
            <a:endParaRPr sz="135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ru" sz="1700"/>
              <a:t>Необходимость проактивной защиты.</a:t>
            </a:r>
            <a:br>
              <a:rPr b="1" lang="ru" sz="1700"/>
            </a:br>
            <a:r>
              <a:rPr lang="ru" sz="1350"/>
              <a:t>Требуются методы, способные анализировать поведение и контекст кода, а не просто сверять его с базой угроз.</a:t>
            </a:r>
            <a:endParaRPr sz="13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rgbClr val="1F2937"/>
                </a:solidFill>
              </a:rPr>
              <a:t>Современные методы предотвращения XSS</a:t>
            </a:r>
            <a:endParaRPr b="1" sz="2000">
              <a:solidFill>
                <a:srgbClr val="1F2937"/>
              </a:solidFill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“Безопасная” разработка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ru"/>
              <a:t>Контекстное экранирование;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ru"/>
              <a:t>Санитация;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ru"/>
              <a:t>Использование безопасного API;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Политики браузеров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ru"/>
              <a:t>Content Security Policy;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ru"/>
              <a:t>Защита cookies;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Динамический анализ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ru"/>
              <a:t>Выполнение кода в изолированной среде.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rgbClr val="1F2937"/>
                </a:solidFill>
              </a:rPr>
              <a:t>Обоснование связи с ИБ</a:t>
            </a:r>
            <a:endParaRPr b="1" sz="2000">
              <a:solidFill>
                <a:srgbClr val="1F2937"/>
              </a:solidFill>
            </a:endParaRP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-34210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ru" sz="3250"/>
              <a:t>Нарушение конфиденциальности</a:t>
            </a:r>
            <a:endParaRPr b="1" sz="325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300"/>
              <a:t>XSS используется для кражи cookies и токенов авторизации;</a:t>
            </a:r>
            <a:endParaRPr sz="2300"/>
          </a:p>
          <a:p>
            <a:pPr indent="-328136" lvl="0" marL="457200" rtl="0" algn="l">
              <a:spcBef>
                <a:spcPts val="1200"/>
              </a:spcBef>
              <a:spcAft>
                <a:spcPts val="0"/>
              </a:spcAft>
              <a:buSzPct val="87692"/>
              <a:buChar char="●"/>
            </a:pPr>
            <a:r>
              <a:rPr b="1" lang="ru" sz="3250"/>
              <a:t>Нарушение целостности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300"/>
              <a:t>Злоумышленник может модифицировать контент страницы или выполнять действия от имени жертвы;</a:t>
            </a:r>
            <a:endParaRPr sz="2300"/>
          </a:p>
          <a:p>
            <a:pPr indent="-328136" lvl="0" marL="457200" rtl="0" algn="l">
              <a:spcBef>
                <a:spcPts val="1200"/>
              </a:spcBef>
              <a:spcAft>
                <a:spcPts val="0"/>
              </a:spcAft>
              <a:buSzPct val="87692"/>
              <a:buChar char="●"/>
            </a:pPr>
            <a:r>
              <a:rPr b="1" lang="ru" sz="3250"/>
              <a:t>Нарушение доступности</a:t>
            </a:r>
            <a:endParaRPr b="1"/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300"/>
              <a:t>XSS-атаки могут использоваться для рассылки вредоносного ПО или как начальный этап для атак на внутреннюю инфраструктуру компании;</a:t>
            </a:r>
            <a:endParaRPr sz="2300"/>
          </a:p>
          <a:p>
            <a:pPr indent="-328136" lvl="0" marL="457200" rtl="0" algn="l">
              <a:spcBef>
                <a:spcPts val="1200"/>
              </a:spcBef>
              <a:spcAft>
                <a:spcPts val="0"/>
              </a:spcAft>
              <a:buSzPct val="87692"/>
              <a:buChar char="●"/>
            </a:pPr>
            <a:r>
              <a:rPr b="1" lang="ru" sz="3250"/>
              <a:t>Объект исследования</a:t>
            </a:r>
            <a:endParaRPr b="1"/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300"/>
              <a:t>Методы машинного обучения в данном контексте направлены на повышение обнаружения угроз и реагирования на инциденты ИБ.</a:t>
            </a:r>
            <a:endParaRPr sz="2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rgbClr val="1F2937"/>
                </a:solidFill>
              </a:rPr>
              <a:t>Планируемые методы решения задачи</a:t>
            </a:r>
            <a:endParaRPr b="1" sz="2000">
              <a:solidFill>
                <a:srgbClr val="1F2937"/>
              </a:solidFill>
            </a:endParaRPr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702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50"/>
              <a:buAutoNum type="arabicPeriod"/>
            </a:pPr>
            <a:r>
              <a:rPr b="1" lang="ru" sz="1550"/>
              <a:t>Подготовка dataset-ов для обучения;</a:t>
            </a:r>
            <a:endParaRPr b="1" sz="1550"/>
          </a:p>
          <a:p>
            <a:pPr indent="-3175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b="1" lang="ru" sz="1250" u="sng">
                <a:solidFill>
                  <a:schemeClr val="dk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perviz19/VulnXSS</a:t>
            </a:r>
            <a:endParaRPr b="1" sz="1550"/>
          </a:p>
          <a:p>
            <a:pPr indent="-3175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b="1" lang="ru" sz="1250" u="sng">
                <a:solidFill>
                  <a:schemeClr val="dk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Kaggle</a:t>
            </a:r>
            <a:endParaRPr b="1" sz="1250" u="sng">
              <a:solidFill>
                <a:schemeClr val="dk2"/>
              </a:solidFill>
            </a:endParaRPr>
          </a:p>
          <a:p>
            <a:pPr indent="-32702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50"/>
              <a:buAutoNum type="arabicPeriod"/>
            </a:pPr>
            <a:r>
              <a:rPr b="1" lang="ru" sz="1550"/>
              <a:t>Обучение моделей по нескольким алгоритмам;</a:t>
            </a:r>
            <a:br>
              <a:rPr b="1" lang="ru" sz="1550"/>
            </a:br>
            <a:endParaRPr b="1" sz="1550"/>
          </a:p>
          <a:p>
            <a:pPr indent="-32702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50"/>
              <a:buAutoNum type="arabicPeriod"/>
            </a:pPr>
            <a:r>
              <a:rPr b="1" lang="ru" sz="1550"/>
              <a:t>Анализ результатов и оценка качества.</a:t>
            </a:r>
            <a:endParaRPr b="1" sz="1550"/>
          </a:p>
        </p:txBody>
      </p:sp>
      <p:sp>
        <p:nvSpPr>
          <p:cNvPr id="92" name="Google Shape;92;p18"/>
          <p:cNvSpPr txBox="1"/>
          <p:nvPr/>
        </p:nvSpPr>
        <p:spPr>
          <a:xfrm>
            <a:off x="5355800" y="2224350"/>
            <a:ext cx="32778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77125" lIns="77125" spcFirstLastPara="1" rIns="77125" wrap="square" tIns="7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Рис. 1 - Распределение классов в датасете Kaggle</a:t>
            </a:r>
            <a:endParaRPr sz="11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6014304" y="1002004"/>
            <a:ext cx="980400" cy="1222200"/>
          </a:xfrm>
          <a:prstGeom prst="rect">
            <a:avLst/>
          </a:prstGeom>
          <a:solidFill>
            <a:schemeClr val="lt2"/>
          </a:solidFill>
          <a:ln cap="flat" cmpd="sng" w="80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125" lIns="77125" spcFirstLastPara="1" rIns="77125" wrap="square" tIns="77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8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6994701" y="777150"/>
            <a:ext cx="980400" cy="1447200"/>
          </a:xfrm>
          <a:prstGeom prst="rect">
            <a:avLst/>
          </a:prstGeom>
          <a:solidFill>
            <a:schemeClr val="accent5"/>
          </a:solidFill>
          <a:ln cap="flat" cmpd="sng" w="80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125" lIns="77125" spcFirstLastPara="1" rIns="77125" wrap="square" tIns="77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8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95" name="Google Shape;95;p18"/>
          <p:cNvGraphicFramePr/>
          <p:nvPr/>
        </p:nvGraphicFramePr>
        <p:xfrm>
          <a:off x="5355763" y="284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{8C0B0F36-4DD8-4C67-8B2B-0482240E90F0}</a:tableStyleId>
              </a:tblPr>
              <a:tblGrid>
                <a:gridCol w="1643725"/>
                <a:gridCol w="1634150"/>
              </a:tblGrid>
              <a:tr h="356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Accuracy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&gt; 90</a:t>
                      </a:r>
                      <a:r>
                        <a:rPr lang="ru" sz="1200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6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Precision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&gt; 90</a:t>
                      </a:r>
                      <a:r>
                        <a:rPr lang="ru" sz="1200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6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Recall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&gt; 95</a:t>
                      </a:r>
                      <a:r>
                        <a:rPr lang="ru" sz="1200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6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F1-score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&gt; 85</a:t>
                      </a:r>
                      <a:r>
                        <a:rPr lang="ru" sz="1200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%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6" name="Google Shape;96;p18"/>
          <p:cNvSpPr txBox="1"/>
          <p:nvPr/>
        </p:nvSpPr>
        <p:spPr>
          <a:xfrm>
            <a:off x="5355788" y="4309275"/>
            <a:ext cx="327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Таблица 1 - Ожидаемые </a:t>
            </a:r>
            <a:r>
              <a:rPr lang="ru" sz="1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результаты</a:t>
            </a:r>
            <a:endParaRPr sz="11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rgbClr val="1F2937"/>
                </a:solidFill>
              </a:rPr>
              <a:t>Первые результаты</a:t>
            </a:r>
            <a:endParaRPr b="1" sz="2000">
              <a:solidFill>
                <a:srgbClr val="1F2937"/>
              </a:solidFill>
            </a:endParaRPr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ru" sz="1550"/>
              <a:t>GitHub:</a:t>
            </a:r>
            <a:r>
              <a:rPr lang="ru" sz="1550"/>
              <a:t> </a:t>
            </a:r>
            <a:r>
              <a:rPr lang="ru" sz="1550" u="sng">
                <a:solidFill>
                  <a:schemeClr val="dk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Bus_Station_35</a:t>
            </a:r>
            <a:br>
              <a:rPr lang="ru" sz="1200">
                <a:solidFill>
                  <a:schemeClr val="dk2"/>
                </a:solidFill>
              </a:rPr>
            </a:br>
            <a:endParaRPr sz="1200">
              <a:solidFill>
                <a:schemeClr val="dk2"/>
              </a:solidFill>
            </a:endParaRPr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b="1" lang="ru" sz="1550"/>
              <a:t>Основные метрики:</a:t>
            </a:r>
            <a:endParaRPr b="1" sz="155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3500" y="1281537"/>
            <a:ext cx="3364500" cy="258038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4" name="Google Shape;104;p19"/>
          <p:cNvGraphicFramePr/>
          <p:nvPr/>
        </p:nvGraphicFramePr>
        <p:xfrm>
          <a:off x="889450" y="2087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{8C0B0F36-4DD8-4C67-8B2B-0482240E90F0}</a:tableStyleId>
              </a:tblPr>
              <a:tblGrid>
                <a:gridCol w="1643725"/>
                <a:gridCol w="1634150"/>
              </a:tblGrid>
              <a:tr h="356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Accuracy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88.8%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6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Precision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83.01%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6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Recall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97.67%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6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F1-score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89.75%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6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200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FP-rate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200">
                          <a:solidFill>
                            <a:schemeClr val="accent3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19.99%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5" name="Google Shape;105;p19"/>
          <p:cNvSpPr txBox="1"/>
          <p:nvPr/>
        </p:nvSpPr>
        <p:spPr>
          <a:xfrm>
            <a:off x="5143575" y="3985125"/>
            <a:ext cx="336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Рис. 2 - Результаты тестирования модели CatBoostClassifier</a:t>
            </a:r>
            <a:endParaRPr sz="11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889450" y="3985125"/>
            <a:ext cx="327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Таблица 2</a:t>
            </a:r>
            <a:r>
              <a:rPr lang="ru" sz="1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 - Результаты тестирования модели </a:t>
            </a:r>
            <a:r>
              <a:rPr lang="ru" sz="1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CatBoostClassifier</a:t>
            </a:r>
            <a:endParaRPr sz="11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020"/>
              <a:t>Используемые источники</a:t>
            </a:r>
            <a:endParaRPr b="1" sz="2020"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" sz="1500" u="sng">
                <a:solidFill>
                  <a:schemeClr val="dk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(PDF) Machine Learning-Driven Detection of Cross-Site Scripting Attacks</a:t>
            </a:r>
            <a:r>
              <a:rPr lang="ru" sz="1500">
                <a:solidFill>
                  <a:schemeClr val="dk2"/>
                </a:solidFill>
              </a:rPr>
              <a:t> 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" sz="1500" u="sng">
                <a:solidFill>
                  <a:schemeClr val="dk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TrustyMon: Practical Detection of DOM-based Cross-Site Scripting Attacks Using Trusted Types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" sz="1500" u="sng">
                <a:solidFill>
                  <a:schemeClr val="dk2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XSShield: A novel dataset and lightweight hybrid deep learning model for XSS attack detection - ScienceDirect</a:t>
            </a:r>
            <a:r>
              <a:rPr lang="ru" sz="1500">
                <a:solidFill>
                  <a:schemeClr val="dk2"/>
                </a:solidFill>
              </a:rPr>
              <a:t> 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" sz="1500" u="sng">
                <a:solidFill>
                  <a:schemeClr val="dk2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OWASP Top 10:2025</a:t>
            </a:r>
            <a:r>
              <a:rPr lang="ru" sz="1500">
                <a:solidFill>
                  <a:schemeClr val="dk2"/>
                </a:solidFill>
              </a:rPr>
              <a:t> 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" sz="1500" u="sng">
                <a:solidFill>
                  <a:schemeClr val="dk2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What is cross-site scripting (XSS) and how to prevent it? | Web Security Academy</a:t>
            </a:r>
            <a:r>
              <a:rPr lang="ru" sz="1500">
                <a:solidFill>
                  <a:schemeClr val="dk2"/>
                </a:solidFill>
              </a:rPr>
              <a:t> 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