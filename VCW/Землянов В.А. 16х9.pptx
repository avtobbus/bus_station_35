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7" r:id="rId6"/>
    <p:sldId id="268" r:id="rId7"/>
    <p:sldId id="258" r:id="rId8"/>
    <p:sldId id="259" r:id="rId9"/>
    <p:sldId id="260" r:id="rId10"/>
    <p:sldId id="264" r:id="rId11"/>
    <p:sldId id="265" r:id="rId12"/>
    <p:sldId id="266" r:id="rId13"/>
    <p:sldId id="263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1e189a4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g3e11e189a47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1e189a4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g3e11e189a47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1e189a4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g3e11e189a47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1e189a47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g3e11e189a47_0_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1e189a47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g3e11e189a47_0_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1e189a47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g3e11e189a47_0_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1e189a47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g3e11e189a47_0_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1e189a47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g3e11e189a47_0_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1e189a47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g3e11e189a47_0_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Титульный слайд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Заголовок и объект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Заголовок раздела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Два объекта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Сравнение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Только заголовок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Пустой слайд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Объект с подписью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Рисунок с подписью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Заголовок и вертикальный текст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Вертикальный заголовок и текст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606758" y="2517593"/>
            <a:ext cx="38319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</a:rPr>
              <a:t>ОБНАРУЖЕНИЕ XSS-АТАК С ИСПОЛЬЗОВАНИЕМ МЕТОДОВ МАШИННОГО ОБУЧЕНИЯ</a:t>
            </a:r>
            <a:endParaRPr sz="20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99501" y="4682300"/>
            <a:ext cx="384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Студент группы 6511-100503D Землянов Владимир Алексеевич</a:t>
            </a:r>
            <a:r>
              <a:rPr lang="ru-RU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г. Самара 14.05.2026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2351321" y="301532"/>
            <a:ext cx="789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ВВЕДЕНИЕ И ПРОБЛЕМАТИКА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907179" y="1514908"/>
            <a:ext cx="8411400" cy="424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Рост числа атак.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Веб-приложения остаются основной целью злоумышленников.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 (Cross-Site Scripting)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стабильно входит в топ-3 самых распространенных уязвимостей веб-приложений (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OWASP Top 10).</a:t>
            </a: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Неэффективность сигнатурных методов.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Классические средства защиты работают по принципу "поиска по списку". Они эффективны против известных атак, но бессильны против: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Модифицированных полезных нагрузок (обфускация);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Zero-day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атак (новых, ранее не встречавшихся векторов).</a:t>
            </a: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endParaRPr lang="en-US" altLang="ru-RU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Необходимость проактивной защиты.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Требуются методы, способные анализировать поведение и контекст кода, а не просто сверять его с базой угроз.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АКТУАЛЬНОСТЬ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907179" y="1514908"/>
            <a:ext cx="84114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“Безопасная” разработка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Контекстное экранирование;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Санитация;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Использование безопасного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API;</a:t>
            </a:r>
            <a:b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Политики браузеров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Content Security Policy;</a:t>
            </a: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Защита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cookies;</a:t>
            </a:r>
            <a:b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Динамический анализ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Выполнение кода в изолированной среде.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ЧТО ТАКОЕ </a:t>
            </a:r>
            <a:r>
              <a:rPr lang="en-US" sz="1800">
                <a:solidFill>
                  <a:schemeClr val="lt1"/>
                </a:solidFill>
              </a:rPr>
              <a:t>XSS?</a:t>
            </a:r>
            <a:endParaRPr lang="en-US"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90245" y="1213485"/>
            <a:ext cx="5056505" cy="479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alt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—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это «инъекция» вредоносного кода. Злоумышленник подставляет в параметры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или поля ввода сайта специальный скрипт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и е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сли сайт плохо фильтрует данные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или совсем не валидирует введённую пользователем информацию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то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этот скрипт попадает на страницу и запускается в браузере у других пользователей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Благодаря слабой защищенности сайта, злоумышленник может выполнить произвольный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JavaScript-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код в браузере пользователя. Это имеет свои последствия, к примеру:</a:t>
            </a: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Кража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cookie.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Кейлоггинг.</a:t>
            </a: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Подмена контента.</a:t>
            </a: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520" y="1213485"/>
            <a:ext cx="4155440" cy="2215515"/>
          </a:xfrm>
          <a:prstGeom prst="rect">
            <a:avLst/>
          </a:prstGeom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3"/>
          <a:srcRect l="2274" r="926"/>
          <a:stretch>
            <a:fillRect/>
          </a:stretch>
        </p:blipFill>
        <p:spPr>
          <a:xfrm>
            <a:off x="7166610" y="3612515"/>
            <a:ext cx="37846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ВЫБОР ДАТАСЕТА</a:t>
            </a:r>
            <a:endParaRPr lang="ru-RU" altLang="ru-RU"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42315" y="1515110"/>
            <a:ext cx="5607685" cy="460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 рамках эксперимента использовался открытый датасет "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Cross Site Scripting XSS Dataset for Deep Learning" 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платформа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Kaggle. </a:t>
            </a: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Набор данных содержит текстовые строки, разделенные на два класса: легитимный трафик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(цифра 0)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и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атаки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(цифра 1)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Формирование выборки осуществлялось на основе официальных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сниппетов из коллекций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PortSwigger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OWASP,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что обеспечивает актуальность и разнообразие векторов атак.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Для тестирования уже обученной модели использовался датасет из гитхаба пользователя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perviz19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(репозиторий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VulnXSS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), содержащий более 6000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-пейлоадов.</a:t>
            </a:r>
            <a:endParaRPr lang="ru-RU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376795" y="2164715"/>
            <a:ext cx="1923415" cy="1440180"/>
          </a:xfrm>
          <a:prstGeom prst="rect">
            <a:avLst/>
          </a:prstGeom>
          <a:solidFill>
            <a:srgbClr val="007BA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/>
              <a:t>0</a:t>
            </a:r>
            <a:endParaRPr lang="en-US" alt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9300210" y="1940560"/>
            <a:ext cx="1923415" cy="1664335"/>
          </a:xfrm>
          <a:prstGeom prst="rect">
            <a:avLst/>
          </a:prstGeom>
          <a:solidFill>
            <a:srgbClr val="007BA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/>
              <a:t>1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2351321" y="301532"/>
            <a:ext cx="789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ВЫБОР АЛГОРИТМА 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89635" y="1170940"/>
            <a:ext cx="7044055" cy="486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 качестве основного классификатора был выбран алгоритм CatBoost.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CatBoost —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это библиотека для градиентного бустинга на деревьях решений, разработанная компанией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Yandex.</a:t>
            </a:r>
            <a:endParaRPr lang="en-US" alt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Преимуществами данного алгоритма являются:</a:t>
            </a:r>
            <a:endParaRPr lang="ru-RU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Работа с категориальными признаками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анализ оперирует не только числами, но и текстовыми категориями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например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наличие конкретного тега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Устойчивость к выбросам: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CatBoost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не ломается от редких, но информативных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атак. Он устойчиво отделяет вредоносный код от массового легитимного трафика, даже если встречается очень нестандартный пейлоад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Интерпретируемость: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CatBoost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не только обнаруживает атаку, но и указывает, на основании каких тегов, методов или символов он принял решение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Изображение 3" descr="CatBoost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940" y="2751455"/>
            <a:ext cx="1520190" cy="1520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2351321" y="301532"/>
            <a:ext cx="789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ПОДГОТОВКА И АНАЛИЗ ПРИЗНАКОВ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907179" y="1213283"/>
            <a:ext cx="8411400" cy="230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Ключевыми признаками на основе обучающего датасета для обнаружения XSS являются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url_keywords_evil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данный признак указывает на содержание в тексте слов alert, prompt, confirm, eval, script, iframe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js_dom_alert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данный признак указывает на содержание в тексте слова alert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ru-RU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html_attr_class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данный признак указывает на содержание в тексте html-атрибута class</a:t>
            </a:r>
            <a:r>
              <a:rPr lang="ru-RU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Изображение 1" descr="features"/>
          <p:cNvPicPr>
            <a:picLocks noChangeAspect="1"/>
          </p:cNvPicPr>
          <p:nvPr/>
        </p:nvPicPr>
        <p:blipFill>
          <a:blip r:embed="rId2"/>
          <a:srcRect l="8032" b="81444"/>
          <a:stretch>
            <a:fillRect/>
          </a:stretch>
        </p:blipFill>
        <p:spPr>
          <a:xfrm>
            <a:off x="3740150" y="3601720"/>
            <a:ext cx="4711065" cy="2376805"/>
          </a:xfrm>
          <a:prstGeom prst="rect">
            <a:avLst/>
          </a:pr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РЕЗУЛЬТАТЫ ТЕСТИРОВАНИЯ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2"/>
          <a:stretch>
            <a:fillRect/>
          </a:stretch>
        </p:blipFill>
        <p:spPr>
          <a:xfrm>
            <a:off x="6469380" y="1565275"/>
            <a:ext cx="4867275" cy="3726815"/>
          </a:xfrm>
          <a:prstGeom prst="rect">
            <a:avLst/>
          </a:prstGeom>
        </p:spPr>
      </p:pic>
      <p:graphicFrame>
        <p:nvGraphicFramePr>
          <p:cNvPr id="120" name="Google Shape;120;p17"/>
          <p:cNvGraphicFramePr/>
          <p:nvPr>
            <p:custDataLst>
              <p:tags r:id="rId3"/>
            </p:custDataLst>
          </p:nvPr>
        </p:nvGraphicFramePr>
        <p:xfrm>
          <a:off x="1146810" y="2035810"/>
          <a:ext cx="4107180" cy="2785110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053590"/>
                <a:gridCol w="2053590"/>
              </a:tblGrid>
              <a:tr h="4641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Метрика</a:t>
                      </a:r>
                      <a:endParaRPr 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Значение (</a:t>
                      </a:r>
                      <a:r>
                        <a:rPr lang="en-US"/>
                        <a:t>%</a:t>
                      </a:r>
                      <a:r>
                        <a:rPr lang="ru-RU"/>
                        <a:t>)</a:t>
                      </a:r>
                      <a:endParaRPr lang="ru-RU"/>
                    </a:p>
                  </a:txBody>
                  <a:tcPr marL="91425" marR="91425" marT="91425" marB="91425"/>
                </a:tc>
              </a:tr>
              <a:tr h="4641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Accuracy</a:t>
                      </a:r>
                      <a:endParaRPr lang="en-US" alt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88.80</a:t>
                      </a:r>
                      <a:endParaRPr lang="ru-RU"/>
                    </a:p>
                  </a:txBody>
                  <a:tcPr marL="91425" marR="91425" marT="91425" marB="91425"/>
                </a:tc>
              </a:tr>
              <a:tr h="4641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Precision</a:t>
                      </a:r>
                      <a:endParaRPr lang="en-US" alt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83.01</a:t>
                      </a:r>
                      <a:endParaRPr lang="en-US" altLang="ru-RU"/>
                    </a:p>
                  </a:txBody>
                  <a:tcPr marL="91425" marR="91425" marT="91425" marB="91425"/>
                </a:tc>
              </a:tr>
              <a:tr h="4641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Recall</a:t>
                      </a:r>
                      <a:endParaRPr lang="en-US" alt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97.67</a:t>
                      </a:r>
                      <a:endParaRPr lang="en-US" altLang="ru-RU"/>
                    </a:p>
                  </a:txBody>
                  <a:tcPr marL="91425" marR="91425" marT="91425" marB="91425"/>
                </a:tc>
              </a:tr>
              <a:tr h="4641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F1-score</a:t>
                      </a:r>
                      <a:endParaRPr lang="en-US" alt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89.75</a:t>
                      </a:r>
                      <a:endParaRPr lang="en-US" altLang="ru-RU"/>
                    </a:p>
                  </a:txBody>
                  <a:tcPr marL="91425" marR="91425" marT="91425" marB="91425"/>
                </a:tc>
              </a:tr>
              <a:tr h="4641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FP-rate</a:t>
                      </a:r>
                      <a:endParaRPr lang="en-US" altLang="ru-RU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/>
                        <a:t>19.99</a:t>
                      </a:r>
                      <a:endParaRPr lang="en-US" altLang="ru-RU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СТЕНД ДЛЯ ДЕМОНСТРАЦИИ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811530" y="1213485"/>
            <a:ext cx="5972810" cy="493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Данная модель создается в качестве дополнения к текущим методам обеспечения безопасности веб-приложений, выступая первым этапом проверки текста. 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Логика пайплайна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тестового приложения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Клиентская часть отправляет запрос серверной части</a:t>
            </a:r>
            <a:r>
              <a:rPr lang="ru-RU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.</a:t>
            </a:r>
            <a:endParaRPr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Получив сообщение, основной сервер отправляет текст сообщения микросервису с моделью по 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  <a:sym typeface="+mn-ea"/>
              </a:rPr>
              <a:t>http</a:t>
            </a:r>
            <a:r>
              <a:rPr lang="ru-RU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.</a:t>
            </a:r>
            <a:endParaRPr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●"/>
            </a:pP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Если модель утверждает, что текст является 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  <a:sym typeface="+mn-ea"/>
              </a:rPr>
              <a:t>XSS,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то сервер отправляет клиенту ошибку с 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  <a:sym typeface="+mn-ea"/>
              </a:rPr>
              <a:t>http-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кодом 400. В ином случае сохраняет текст в базу данных и отправляет клиенту ответ с 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  <a:sym typeface="+mn-ea"/>
              </a:rPr>
              <a:t>http-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кодом 204</a:t>
            </a:r>
            <a:r>
              <a:rPr 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.</a:t>
            </a:r>
            <a:endParaRPr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7643495" y="1870710"/>
            <a:ext cx="1838325" cy="571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/>
              <a:t>КЛИЕНТ</a:t>
            </a:r>
            <a:endParaRPr lang="ru-RU" altLang="en-US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7643495" y="3143250"/>
            <a:ext cx="1838325" cy="571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/>
              <a:t>СЕРВЕР</a:t>
            </a:r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643495" y="4415790"/>
            <a:ext cx="1838325" cy="5721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/>
              <a:t>БД</a:t>
            </a:r>
            <a:endParaRPr lang="ru-RU" altLang="en-US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0340975" y="2981325"/>
            <a:ext cx="1372870" cy="895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/>
              <a:t>XSSDetector</a:t>
            </a:r>
            <a:endParaRPr lang="en-US" altLang="ru-RU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8020050" y="244221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8562340" y="372999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9180195" y="244221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>
            <a:off x="9481820" y="3291840"/>
            <a:ext cx="8591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9481820" y="3545840"/>
            <a:ext cx="8591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2351321" y="302667"/>
            <a:ext cx="78987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ЗАКЛЮЧЕНИЕ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1109953" y="632437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012190" y="1213485"/>
            <a:ext cx="10200640" cy="31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В ходе выполнения работы была решена задача обнаружения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атак с использованием методов машинного обучения. В качестве основного классификатора был реализован алгоритм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CatBoost,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преимуществами которого являются автоматическая обработка категориальных признаков, устойчивость к выбросам и интерпретируемость результатов.</a:t>
            </a:r>
            <a:endParaRPr lang="en-US" altLang="en-US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На основе подготовленного датасета и выделенных признаков модель достигла следующих показателей качества: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Accuracy —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</a:t>
            </a:r>
            <a:r>
              <a:rPr lang="ru-RU" sz="1800">
                <a:sym typeface="+mn-ea"/>
              </a:rPr>
              <a:t>88.80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% 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,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F1-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мера — </a:t>
            </a:r>
            <a:r>
              <a:rPr lang="en-US" altLang="ru-RU" sz="1800">
                <a:sym typeface="+mn-ea"/>
              </a:rPr>
              <a:t>89.75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%,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FP</a:t>
            </a:r>
            <a:r>
              <a:rPr lang="ru-RU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-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Rate — </a:t>
            </a:r>
            <a:r>
              <a:rPr lang="en-US" altLang="ru-RU" sz="1800">
                <a:sym typeface="+mn-ea"/>
              </a:rPr>
              <a:t>19.99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%.</a:t>
            </a:r>
            <a:endParaRPr lang="en-US" altLang="ru-RU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Также в рамках работы разработан тестовый стенд, демонстрирующий процесс обнаружения </a:t>
            </a:r>
            <a:r>
              <a:rPr lang="en-US" altLang="ru-RU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XSS-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атак в реальном времени и подтверждающий пригодность предложенного подхода для практического применения в веб-приложениях.</a:t>
            </a:r>
            <a:endParaRPr lang="en-US" altLang="en-US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БЛАГОДАРЮ </a:t>
            </a:r>
            <a:endParaRPr lang="ru-RU"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ЗА ВНИМАНИЕ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620477" y="4455876"/>
            <a:ext cx="384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89297058602</a:t>
            </a:r>
            <a:br>
              <a:rPr lang="ru-RU">
                <a:solidFill>
                  <a:schemeClr val="lt1"/>
                </a:solidFill>
              </a:rPr>
            </a:br>
            <a:r>
              <a:rPr lang="ru-RU">
                <a:solidFill>
                  <a:schemeClr val="lt1"/>
                </a:solidFill>
              </a:rPr>
              <a:t>mister.voker163@yandex.ru</a:t>
            </a:r>
            <a:endParaRPr sz="14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23*219"/>
  <p:tag name="TABLE_ENDDRAG_RECT" val="103*144*323*219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4607</Words>
  <Application>WPS Presentation</Application>
  <PresentationFormat/>
  <Paragraphs>147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Calibri</vt:lpstr>
      <vt:lpstr>Microsoft YaHei</vt:lpstr>
      <vt:lpstr>Arial Unicode MS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AvtoBBus</cp:lastModifiedBy>
  <cp:revision>8</cp:revision>
  <dcterms:created xsi:type="dcterms:W3CDTF">2026-05-12T11:45:00Z</dcterms:created>
  <dcterms:modified xsi:type="dcterms:W3CDTF">2026-05-13T10:59:15Z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6F323F4EC25D45539996433772DB8776_12</vt:lpwstr>
  </property>
  <property fmtid="{D5CDD505-2E9C-101B-9397-08002B2CF9AE}" pid="3" name="KSOProductBuildVer">
    <vt:lpwstr>1049-12.1.0.25862</vt:lpwstr>
  </property>
</Properties>
</file>